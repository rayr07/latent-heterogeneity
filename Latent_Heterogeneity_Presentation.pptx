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528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B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54864"/>
            <a:ext cx="292608" cy="5033772"/>
          </a:xfrm>
          <a:prstGeom prst="rect">
            <a:avLst/>
          </a:prstGeom>
          <a:solidFill>
            <a:srgbClr val="D6E4F0"/>
          </a:solidFill>
          <a:ln w="12700">
            <a:solidFill>
              <a:srgbClr val="D6E4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Instability as Signal: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8321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Diagnosing Latent Heterogeneity in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Survival Models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2578608"/>
            <a:ext cx="4389120" cy="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706624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Rishika Ray  ·  Dr. Sayar Singh Shekhawat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99923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Manipal University Jaipur, India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730752"/>
            <a:ext cx="2029968" cy="274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3730752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Learning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51760" y="3730752"/>
            <a:ext cx="2029968" cy="274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651760" y="3730752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Analysis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00600" y="3730752"/>
            <a:ext cx="2029968" cy="274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00600" y="3730752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949440" y="3730752"/>
            <a:ext cx="2029968" cy="274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949440" y="3730752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Prognostication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4206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TCGA-BRCA Cohort  |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Instability in Multimodal Survival Models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deep learning promises better cancer prognosis by integrating RNA-seq and histopathology data. Yet a persistent, under-discussed problem remains — models trained on the same cohort produce wildly different results depending on the data split.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724912" cy="14173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847088"/>
            <a:ext cx="45720" cy="1417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Variance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2176272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 index swings dramatically across random train/validation splits — sometimes as wide as 0.30 to 0.62 on the same cohort.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1847088"/>
            <a:ext cx="2724912" cy="14173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18688" y="1847088"/>
            <a:ext cx="45720" cy="1417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28416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 Masks Reality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28416" y="2176272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mean C-index hides subgroup-specific failures. High average performance can coexist with near-random behaviour in specific validation sets.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71616" y="1847088"/>
            <a:ext cx="2724912" cy="14173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71616" y="1847088"/>
            <a:ext cx="45720" cy="14173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81344" y="1938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as Noise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81344" y="2176272"/>
            <a:ext cx="25603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studies attribute this to architecture limits or hyperparameters — and simply regularise it away. The deeper cause remains unexplored.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401568"/>
            <a:ext cx="8412480" cy="713232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401568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Question: Is instability a technical nuisance — or a diagnostic signal of latent patient heterogeneity?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Diagnostic Framework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does not propose a new architecture. Instead, it treats a standard multimodal transformer as a diagnostic probe to understand when and why models fail.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82496"/>
            <a:ext cx="8412480" cy="658368"/>
          </a:xfrm>
          <a:prstGeom prst="rect">
            <a:avLst/>
          </a:prstGeom>
          <a:solidFill>
            <a:srgbClr val="D6E4F0"/>
          </a:solidFill>
          <a:ln w="1905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2920" y="1682496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Performance instability in multimodal survival models is not noise — it is a structured signal arising from unmodelled latent patient heterogeneity.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4871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Sequential Investigation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2816352"/>
            <a:ext cx="2724912" cy="173736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2816352"/>
            <a:ext cx="2724912" cy="292608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38912" y="2816352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8912" y="3163824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Survival Modelling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" y="3493008"/>
            <a:ext cx="2578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transformer-based fusion model and quantify instability across repeated stratified splits.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18688" y="2816352"/>
            <a:ext cx="2724912" cy="173736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18688" y="2816352"/>
            <a:ext cx="2724912" cy="292608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0" y="2816352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91840" y="3163824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Structure 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91840" y="3493008"/>
            <a:ext cx="2578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multimodal embeddings; cluster patients without survival labels to find latent subgroups.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71616" y="2816352"/>
            <a:ext cx="2724912" cy="173736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71616" y="2816352"/>
            <a:ext cx="2724912" cy="292608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44768" y="2816352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44768" y="3163824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Survival Modelling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44768" y="3493008"/>
            <a:ext cx="25786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the discovered homogeneous subgroup; measure stability and performance gain.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&amp; Study Design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12064" y="7680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TCGA-BRCA Cohort — Breast Invasive Carcinoma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115568"/>
            <a:ext cx="1645920" cy="1005840"/>
          </a:xfrm>
          <a:prstGeom prst="rect">
            <a:avLst/>
          </a:prstGeom>
          <a:solidFill>
            <a:srgbClr val="D6E4F0"/>
          </a:solidFill>
          <a:ln w="1524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912" y="1188720"/>
            <a:ext cx="1499616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38912" y="1668780"/>
            <a:ext cx="14996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(matched RNA + WSI)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1115568"/>
            <a:ext cx="1645920" cy="1005840"/>
          </a:xfrm>
          <a:prstGeom prst="rect">
            <a:avLst/>
          </a:prstGeom>
          <a:solidFill>
            <a:srgbClr val="D6E4F0"/>
          </a:solidFill>
          <a:ln w="1524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221992" y="1188720"/>
            <a:ext cx="1499616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221992" y="1668780"/>
            <a:ext cx="14996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Death Events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(event-limited setting)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31920" y="1115568"/>
            <a:ext cx="1645920" cy="1005840"/>
          </a:xfrm>
          <a:prstGeom prst="rect">
            <a:avLst/>
          </a:prstGeom>
          <a:solidFill>
            <a:srgbClr val="D6E4F0"/>
          </a:solidFill>
          <a:ln w="1524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005072" y="1188720"/>
            <a:ext cx="1499616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20K+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005072" y="1668780"/>
            <a:ext cx="14996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 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(reduced via PCA → 128)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715000" y="1115568"/>
            <a:ext cx="1645920" cy="1005840"/>
          </a:xfrm>
          <a:prstGeom prst="rect">
            <a:avLst/>
          </a:prstGeom>
          <a:solidFill>
            <a:srgbClr val="D6E4F0"/>
          </a:solidFill>
          <a:ln w="1524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88152" y="1188720"/>
            <a:ext cx="1499616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788152" y="1668780"/>
            <a:ext cx="14996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WSI Patches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Patient (K)</a:t>
            </a:r>
            <a:endParaRPr lang="en-US" sz="1000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0"/>
            <a:ext cx="4572000" cy="248716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365760" y="475488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 — Diagnostic pipeline: Global modelling → Latent structure discovery → Conditional evaluation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074920" y="2286000"/>
            <a:ext cx="3703320" cy="2487168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193792" y="23957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Event-Limited Setting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193792" y="259689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29 events in 193 patients. Model capacity constrained accordingly to prevent overfitting.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193792" y="32004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Strategy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193792" y="340156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shuffle-split cross-validation (10 splits). Focus on distribution of C-index, not just the mean.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5193792" y="400507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 Leakage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193792" y="420624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clustering performed without survival outcomes, receptor status, or clinical labels.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12064" y="76809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Cross-Modal Fusion (~120K parameters)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15568"/>
            <a:ext cx="3931920" cy="2578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37033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 — Self-attention over image patches → cross-attention with RNA → fused risk score.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480560" y="1115568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RNA Embedding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480560" y="131673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→ 128-dim vector per patient. Projected to common latent space (dim=64) via linear layer.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80560" y="1810512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WSI Encoding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480560" y="20116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K=8 patches → CNN 2048-dim each. Self-attention over patch tokens to aggregate spatial features.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480560" y="2505456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480560" y="270662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embedding = Query. RNA features = Keys &amp; Values. Models conditional molecular-morphological interaction.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80560" y="3200400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Output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480560" y="34015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fused embedding → risk score. Trained via Cox partial likelihood. Single head, dropout + weight decay for regularisation.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480560" y="3895344"/>
            <a:ext cx="4297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Choice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480560" y="409651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 compact (64-dim latent, 1 attention head) to avoid overfitting in event-limited regime.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— Global Prediction Exhibits Stochastic Instability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15568"/>
            <a:ext cx="4206240" cy="2606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721608"/>
            <a:ext cx="4480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3 — C-index distribution across architectures. Transformer shows highest variance.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09160" y="1115568"/>
            <a:ext cx="2057400" cy="9601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782312" y="1188720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0.518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782312" y="1664208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C-index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(global)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922008" y="1115568"/>
            <a:ext cx="2057400" cy="9601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995160" y="1188720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0.131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995160" y="1664208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Std. Deviation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10 splits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4709160" y="2231136"/>
            <a:ext cx="2057400" cy="9601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782312" y="2304288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0.619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782312" y="2779776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Split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 (same model)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22008" y="2231136"/>
            <a:ext cx="2057400" cy="9601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995160" y="2304288"/>
            <a:ext cx="1911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0.295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995160" y="2779776"/>
            <a:ext cx="1911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Split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anti-correlation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709160" y="3273552"/>
            <a:ext cx="4087368" cy="713232"/>
          </a:xfrm>
          <a:prstGeom prst="rect">
            <a:avLst/>
          </a:prstGeom>
          <a:solidFill>
            <a:srgbClr val="D6E4F0"/>
          </a:solidFill>
          <a:ln w="1016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828032" y="3291840"/>
            <a:ext cx="38587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0.131 standard deviation is clinically unacceptable. The same model can achieve 0.619 or drop to 0.295 simply by changing the random split. This is not training noise — it is a structural signal.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1 (cont.) — Instability Is Not Architecture-Specific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15568"/>
            <a:ext cx="4114800" cy="2651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767328"/>
            <a:ext cx="4389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4 — C-index across validation folds. Performance varies substantially across splits.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663440" y="111556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 (TCGA-BRCA)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463040"/>
          <a:ext cx="3840480" cy="2084832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 Dev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Cox 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DeepSurv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CNN-only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Concat MLP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B832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4663440" y="3621024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Despite highest mean, transformer shows greatest instability — inconsistent with clinical deployment requirements.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4663440" y="4133088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Concatenation baseline shows even higher variance (σ = 0.149), confirming instability is not due to attention mechanism — it is intrinsic to the heterogeneous cohort.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— Unsupervised Discovery of Latent Subgroups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suppressing instability, we repurposed the trained model as a representation learning tool. Multimodal embeddings were extracted from the cross-attention layer and clustered without any survival labels.</a:t>
            </a:r>
            <a:endParaRPr lang="en-US" sz="11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19072"/>
            <a:ext cx="4069080" cy="2514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23367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5 — UMAP of multimodal embeddings. Partially separable structure reveals latent heterogeneity (K-Means, K=2).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617720" y="1719072"/>
            <a:ext cx="4160520" cy="137160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617720" y="1719072"/>
            <a:ext cx="54864" cy="1371600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736592" y="17922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0 — High-Risk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36592" y="204825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 patients (81.3%)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36592" y="2267712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event rate: 11.5%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survival: 811 days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subgroup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17720" y="3227832"/>
            <a:ext cx="4160520" cy="137160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617720" y="3227832"/>
            <a:ext cx="54864" cy="1371600"/>
          </a:xfrm>
          <a:prstGeom prst="rect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36592" y="330098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 — Low-Risk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736592" y="355701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patients (18.7%)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736592" y="3776472"/>
            <a:ext cx="39319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event rate: 31%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survival: 548 days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prognosis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17720" y="4626864"/>
            <a:ext cx="4160520" cy="402336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736592" y="462686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performed without survival labels, receptor status, or clinical subtypes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2 (cont.) — Stable Clusters &amp; Divergent Survival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15568"/>
            <a:ext cx="4160520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312724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6 — ARI across 50 random K-Means initialisations. Mean ARI = 0.890 → highly robust subgroups.</a:t>
            </a:r>
            <a:endParaRPr lang="en-US" sz="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273552"/>
            <a:ext cx="4160520" cy="16687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" y="4919472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7 — Kaplan-Meier curves. Log-rank p = 4.33×10⁻⁵. Clusters show significantly different survival.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736592" y="1115568"/>
            <a:ext cx="405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Stability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736592" y="1444752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Mean ARI = 0.890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4846320" y="1664208"/>
            <a:ext cx="3950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50 random K-Means initialisations. The same two groups are recovered regardless of the starting seed — confirming this is not an artefact.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736592" y="2359152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Log-rank p = 4.33×10⁻⁵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4846320" y="2578608"/>
            <a:ext cx="3950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survival difference between Cluster 0 and Cluster 1 is statistically significant across thousands of days of follow-up.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736592" y="3273552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Median Survival Gap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4846320" y="3493008"/>
            <a:ext cx="3950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 (high-risk): 548 days.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0 (low-risk): 811 days.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263-day median gap from purely unsupervised structure.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736592" y="4187952"/>
            <a:ext cx="40599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Event Rate Difference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846320" y="4407408"/>
            <a:ext cx="3950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1: 31% events vs Cluster 0: 11.5% events — 2.7× more events in the high-risk cluster.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3 — Subgroups Are Unique to Multimodal Fusion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question: do the discovered clusters simply recapitulate what either modality already knew? An ablation study compared cluster partitions across embedding types.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7280" y="171907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Rand Index — Overlap Between Clustering Partitions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048256"/>
          <a:ext cx="6949440" cy="146304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 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5F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vs. RNA-Only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A5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Multimodal vs. Image-Only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A5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RNA-Only vs. Image-Only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3A5F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657600"/>
            <a:ext cx="2724912" cy="1261872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365760" y="3657600"/>
            <a:ext cx="45720" cy="1261872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75488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Emergent Property</a:t>
            </a:r>
            <a:endParaRPr lang="en-US" sz="1100" dirty="0"/>
          </a:p>
        </p:txBody>
      </p:sp>
      <p:sp>
        <p:nvSpPr>
          <p:cNvPr id="7" name="Text 8"/>
          <p:cNvSpPr/>
          <p:nvPr/>
        </p:nvSpPr>
        <p:spPr>
          <a:xfrm>
            <a:off x="475488" y="3986784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latent subgroups cannot be recovered from RNA-seq alone, image features alone, or their naive concatenation. They emerge only from cross-attention — the interaction space.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18688" y="3657600"/>
            <a:ext cx="2724912" cy="1261872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18688" y="3657600"/>
            <a:ext cx="45720" cy="1261872"/>
          </a:xfrm>
          <a:prstGeom prst="rect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328416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Rediscovery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3328416" y="3986784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show no enrichment for ER, PR, or HER2 receptor subtypes. The model is not simply rediscovering known clinical categories.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071616" y="3657600"/>
            <a:ext cx="2724912" cy="1261872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6071616" y="3657600"/>
            <a:ext cx="45720" cy="1261872"/>
          </a:xfrm>
          <a:prstGeom prst="rect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181344" y="3749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Cross-Modal Interaction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81344" y="3986784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multimodal learning lies in how modalities condition each other — not just in aggregating two information sources. Deep fusion creates new patient taxonomy.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4 — Conditional Modelling Restores Stability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discovering a homogeneous subgroup (Cluster 0, N=157), the multimodal transformer was retrained exclusively on that subgroup — without changing the architecture.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00784"/>
            <a:ext cx="3749040" cy="3017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18304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8 — Global vs. Conditional C-index. Conditioning on Cluster 0 significantly improves accuracy and stability.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297680" y="17007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Gains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7680" y="2029968"/>
            <a:ext cx="2148840" cy="1051560"/>
          </a:xfrm>
          <a:prstGeom prst="rect">
            <a:avLst/>
          </a:prstGeom>
          <a:solidFill>
            <a:srgbClr val="D6E4F0"/>
          </a:solidFill>
          <a:ln w="1524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370832" y="2103120"/>
            <a:ext cx="2002536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+0.294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4370832" y="2608326"/>
            <a:ext cx="2002536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C-index Improvement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RNA-only baseline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583680" y="1828800"/>
            <a:ext cx="2148840" cy="1252728"/>
          </a:xfrm>
          <a:prstGeom prst="rect">
            <a:avLst/>
          </a:prstGeom>
          <a:solidFill>
            <a:srgbClr val="D6E4F0"/>
          </a:solidFill>
          <a:ln w="1524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656832" y="2103120"/>
            <a:ext cx="2002536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[0.159, 0.453]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6656832" y="2608326"/>
            <a:ext cx="2002536" cy="473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CI for improvement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97680" y="3182112"/>
            <a:ext cx="4480560" cy="1353312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425696" y="3255264"/>
            <a:ext cx="4224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model (all patients)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425696" y="3419856"/>
            <a:ext cx="4224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 range: 0.295 – 0.619, mean 0.518, σ = 0.131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425696" y="3584448"/>
            <a:ext cx="4224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model (Cluster 0 only)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425696" y="3749040"/>
            <a:ext cx="4224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C-index: 0.60 – 0.70 range, low variance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425696" y="3913632"/>
            <a:ext cx="4224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vs. Unimodal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425696" y="4078224"/>
            <a:ext cx="4224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setting: multimodal substantially outperforms RNA-only baseline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4425696" y="4242816"/>
            <a:ext cx="4224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425696" y="4407408"/>
            <a:ext cx="4224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predictability is conditional on population homogeneity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 — Ruling Out Overfitting &amp; Artefact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 the discovered subgroups and performance gains reflect genuine biological signal — and not statistical artefact — survival labels were randomly permuted while keeping all features intact.</a:t>
            </a:r>
            <a:endParaRPr lang="en-US" sz="1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737360"/>
            <a:ext cx="4114800" cy="2423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16052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9 — KM curves under label shuffling. No meaningful separation → original result is not spurious.</a:t>
            </a:r>
            <a:endParaRPr lang="en-US" sz="9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737360"/>
            <a:ext cx="4114800" cy="24231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4160520"/>
            <a:ext cx="4206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10 — C-index distribution under shuffled labels. Centred near 0.5 → no inherent model bias.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365760" y="4389120"/>
            <a:ext cx="8412480" cy="594360"/>
          </a:xfrm>
          <a:prstGeom prst="rect">
            <a:avLst/>
          </a:prstGeom>
          <a:solidFill>
            <a:srgbClr val="D6E4F0"/>
          </a:solidFill>
          <a:ln w="1016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502920" y="4407408"/>
            <a:ext cx="813816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Mean C-index under shuffled labels = 0.490 (95% CI: 0.338–0.665), centred at random (0.50). The KM curves show no separation. This confirms that every result in this study is driven by true biological structure, not model artefact.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54864" cy="5029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12064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Biological Interpretation — What the Clusters Actually Represent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987552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biological meaning of the discovered latent subgroups? RNA expression profiles of both clusters were analysed post-hoc.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64208"/>
            <a:ext cx="2724912" cy="18745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664208"/>
            <a:ext cx="45720" cy="1874520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 Activity (MKI67)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488" y="1993392"/>
            <a:ext cx="256032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 (high-risk) shows consistently elevated expression of MKI67 — a canonical marker of cellular proliferation. Increased proliferation is a well-established driver of aggressive tumour behaviour and poor survival.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18688" y="1664208"/>
            <a:ext cx="2724912" cy="18745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18688" y="1664208"/>
            <a:ext cx="45720" cy="187452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328416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Receptor Status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28416" y="1993392"/>
            <a:ext cx="256032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enrichment for ER, PR, or HER2 receptor subtypes was found in either cluster. The model is not rediscovering known clinical categories — it has found something new.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71616" y="1664208"/>
            <a:ext cx="2724912" cy="18745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71616" y="1664208"/>
            <a:ext cx="45720" cy="1874520"/>
          </a:xfrm>
          <a:prstGeom prst="rect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81344" y="17556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Immune Infiltration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81344" y="1993392"/>
            <a:ext cx="256032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Immune-related gene expression differences between clusters were modest. Immune infiltration is not the primary driver of the discovered heterogeneity — it is tumour-intrinsic aggressiveness.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5760" y="3675888"/>
            <a:ext cx="8412480" cy="123444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2920" y="3749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Methodological Significance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4005072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multimodal model recovered tumour-intrinsic proliferative heterogeneity without any supervision — validating its biological grounding.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This aligns with established oncology: high proliferative activity (MKI67+) is a known poor-prognosis driver in breast cancer (Hoadley et al., 2014).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 cross-attention reveals interaction-level signals inaccessible to unimodal analysis — supporting the hypothesis that fusion captures new biology.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B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Methodological Implications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384048" cy="685800"/>
          </a:xfrm>
          <a:prstGeom prst="rect">
            <a:avLst/>
          </a:prstGeom>
          <a:solidFill>
            <a:srgbClr val="B83232"/>
          </a:solidFill>
          <a:ln w="12700">
            <a:solidFill>
              <a:srgbClr val="B8323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86384" y="822960"/>
            <a:ext cx="799185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877824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Instability is Real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11556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multimodal transformer achieves σ=0.131 across splits — not attributable to architecture or training. It is data-structural.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664208"/>
            <a:ext cx="384048" cy="68580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1664208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86384" y="1664208"/>
            <a:ext cx="799185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171907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Instability = Heterogeneity Signal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195681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noise, variance indicates that the cohort contains multiple competing survival mechanisms. A single global model cannot fit them all.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505456"/>
            <a:ext cx="384048" cy="68580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505456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6384" y="2505456"/>
            <a:ext cx="799185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256032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Fusion Reveals Hidden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798064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 embeddings expose stable latent subgroups (ARI=0.890) with significantly different survival (p=4.33×10⁻⁵) — invisible to unimodal approaches.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346704"/>
            <a:ext cx="384048" cy="685800"/>
          </a:xfrm>
          <a:prstGeom prst="rect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346704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86384" y="3346704"/>
            <a:ext cx="799185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4400" y="3401568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7D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Predictability is Conditional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639312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homogeneous subgroup, performance jumps to 0.60–0.70 C-index range with +0.294 improvement. Homogeneity is the key, not the model.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5760" y="4187952"/>
            <a:ext cx="384048" cy="685800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187952"/>
            <a:ext cx="3840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86384" y="4187952"/>
            <a:ext cx="7991856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14400" y="424281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Towards Heterogeneity-Aware Pipelines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" y="448056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multimodal survival research should report variance alongside means, treat representations as discovery tools, and adopt two-stage (cluster-then-predict) strategies.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BF1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A5F8F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0"/>
          </a:xfrm>
          <a:prstGeom prst="line">
            <a:avLst/>
          </a:prstGeom>
          <a:noFill/>
          <a:ln w="9525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804672"/>
            <a:ext cx="5074920" cy="2103120"/>
          </a:xfrm>
          <a:prstGeom prst="rect">
            <a:avLst/>
          </a:prstGeom>
          <a:solidFill>
            <a:srgbClr val="D6E4F0"/>
          </a:solidFill>
          <a:ln w="12700">
            <a:solidFill>
              <a:srgbClr val="3A5F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59536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152144"/>
            <a:ext cx="480060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study demonstrates that global multimodal survival modelling on TCGA-BRCA is fundamentally unstable — not due to architectural limitations, but due to unmodelled latent patient heterogeneity.</a:t>
            </a:r>
            <a:endParaRPr lang="en-US" sz="1050" dirty="0"/>
          </a:p>
          <a:p>
            <a:pPr marL="0" indent="0" algn="l">
              <a:buNone/>
            </a:pPr>
            <a:endParaRPr lang="en-US" sz="1050" dirty="0"/>
          </a:p>
          <a:p>
            <a:pPr marL="0" indent="0" algn="l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cross-attention embeddings reveal biologically grounded subgroups that are invisible to unimodal analysis. Conditioning survival modelling on these subgroups recovers strong, stable performance — proving that instability is a signal, not noise.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577840" y="804672"/>
            <a:ext cx="3246120" cy="2103120"/>
          </a:xfrm>
          <a:prstGeom prst="rect">
            <a:avLst/>
          </a:prstGeom>
          <a:solidFill>
            <a:srgbClr val="EDF2F9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87568" y="85953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687568" y="1152144"/>
            <a:ext cx="301752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 cohort (TCGA-BRCA only)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RNA + histopathology — no mutations, CNVs, or epigenetics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Coarse subgroup resolution (K=2)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external validation dataset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3017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Directions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3364992"/>
            <a:ext cx="411480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419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Cohort Validation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heterogeneity patterns on independent multimodal breast cancer datasets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17720" y="3364992"/>
            <a:ext cx="411480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09160" y="3419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Subgroup Discovery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160" y="3657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or adaptive clustering for fine-grained biological resolution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4187952"/>
            <a:ext cx="411480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4242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Modality Integration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480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somatic mutations, CNVs, epigenetic profiles, and treatment histories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17720" y="4187952"/>
            <a:ext cx="411480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09160" y="424281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A5F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Heterogeneity-Aware Pipelines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09160" y="4480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develop two-stage (cluster → predict) frameworks for robust clinical survival modelling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21040" y="4828032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1993</Words>
  <Application>Microsoft Macintosh PowerPoint</Application>
  <PresentationFormat>On-screen Show (16:9)</PresentationFormat>
  <Paragraphs>258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Instability as Signal</dc:title>
  <dc:subject>PptxGenJS Presentation</dc:subject>
  <dc:creator>Rishika Ray</dc:creator>
  <cp:lastModifiedBy>Debasis Ray</cp:lastModifiedBy>
  <cp:revision>2</cp:revision>
  <dcterms:created xsi:type="dcterms:W3CDTF">2026-04-07T05:26:40Z</dcterms:created>
  <dcterms:modified xsi:type="dcterms:W3CDTF">2026-04-07T06:05:00Z</dcterms:modified>
</cp:coreProperties>
</file>